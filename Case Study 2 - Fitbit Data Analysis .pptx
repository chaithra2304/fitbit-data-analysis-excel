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Montserrat"/>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regular.fntdata"/><Relationship Id="rId21" Type="http://schemas.openxmlformats.org/officeDocument/2006/relationships/slide" Target="slides/slide16.xml"/><Relationship Id="rId24" Type="http://schemas.openxmlformats.org/officeDocument/2006/relationships/font" Target="fonts/Montserrat-italic.fntdata"/><Relationship Id="rId23"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Montserrat-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ada7f8ae9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ada7f8ae9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ada7f8ae9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ada7f8ae9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ada7f8ae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ada7f8ae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ada7f8ae9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ada7f8ae9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ada7f8ae9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ada7f8ae9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ada7f8ae9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ada7f8ae9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ada7f8ae9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ada7f8ae9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ada7f8ae9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ada7f8ae9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ada7f8ae9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ada7f8ae9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ada7f8ae9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ada7f8ae9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ada7f8ae9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ada7f8ae9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ada7f8ae9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ada7f8ae9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ada7f8ae9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ada7f8ae9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ada7f8ae9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ada7f8ae9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ada7f8ae9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aada7f8ae9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3500">
                <a:latin typeface="Lato"/>
                <a:ea typeface="Lato"/>
                <a:cs typeface="Lato"/>
                <a:sym typeface="Lato"/>
              </a:rPr>
              <a:t>Fitbit Data Analysis Case Study Using Excel</a:t>
            </a:r>
            <a:endParaRPr b="1" sz="3500">
              <a:latin typeface="Lato"/>
              <a:ea typeface="Lato"/>
              <a:cs typeface="Lato"/>
              <a:sym typeface="Lato"/>
            </a:endParaRPr>
          </a:p>
        </p:txBody>
      </p:sp>
      <p:sp>
        <p:nvSpPr>
          <p:cNvPr id="135" name="Google Shape;135;p13"/>
          <p:cNvSpPr txBox="1"/>
          <p:nvPr>
            <p:ph idx="1" type="subTitle"/>
          </p:nvPr>
        </p:nvSpPr>
        <p:spPr>
          <a:xfrm>
            <a:off x="7967550" y="4357400"/>
            <a:ext cx="1522500" cy="738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500"/>
              <a:t>By,</a:t>
            </a:r>
            <a:endParaRPr sz="1500"/>
          </a:p>
          <a:p>
            <a:pPr indent="0" lvl="0" marL="0" rtl="0" algn="l">
              <a:lnSpc>
                <a:spcPct val="115000"/>
              </a:lnSpc>
              <a:spcBef>
                <a:spcPts val="0"/>
              </a:spcBef>
              <a:spcAft>
                <a:spcPts val="0"/>
              </a:spcAft>
              <a:buNone/>
            </a:pPr>
            <a:r>
              <a:rPr lang="en-GB" sz="1500"/>
              <a:t>Chaithra V</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765600" y="378025"/>
            <a:ext cx="76128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INTRODUCTION</a:t>
            </a:r>
            <a:endParaRPr b="1" sz="3000">
              <a:latin typeface="Lato"/>
              <a:ea typeface="Lato"/>
              <a:cs typeface="Lato"/>
              <a:sym typeface="Lato"/>
            </a:endParaRPr>
          </a:p>
        </p:txBody>
      </p:sp>
      <p:sp>
        <p:nvSpPr>
          <p:cNvPr id="141" name="Google Shape;141;p14"/>
          <p:cNvSpPr txBox="1"/>
          <p:nvPr>
            <p:ph idx="1" type="body"/>
          </p:nvPr>
        </p:nvSpPr>
        <p:spPr>
          <a:xfrm>
            <a:off x="723550" y="1533600"/>
            <a:ext cx="7652400" cy="2945100"/>
          </a:xfrm>
          <a:prstGeom prst="rect">
            <a:avLst/>
          </a:prstGeom>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None/>
            </a:pPr>
            <a:r>
              <a:rPr lang="en-GB" sz="1600"/>
              <a:t>This case study is provided for an imaginary company called “Bellbeat” using a dataset from Fitabase</a:t>
            </a:r>
            <a:endParaRPr sz="1600"/>
          </a:p>
          <a:p>
            <a:pPr indent="0" lvl="0" marL="0" rtl="0" algn="just">
              <a:lnSpc>
                <a:spcPct val="115000"/>
              </a:lnSpc>
              <a:spcBef>
                <a:spcPts val="1200"/>
              </a:spcBef>
              <a:spcAft>
                <a:spcPts val="0"/>
              </a:spcAft>
              <a:buNone/>
            </a:pPr>
            <a:r>
              <a:rPr lang="en-GB" sz="1600"/>
              <a:t>This case study focuses on analyzing Fitbit fitness tracker data using </a:t>
            </a:r>
            <a:r>
              <a:rPr b="1" lang="en-GB" sz="1600"/>
              <a:t>Microsoft Excel</a:t>
            </a:r>
            <a:r>
              <a:rPr lang="en-GB" sz="1600"/>
              <a:t> to understand user activity patterns, health behavior, and engagement trends. The objective is to derive actionable insights that can help a fitness-focused company improve user experience, product features, and wellness recommendations.</a:t>
            </a:r>
            <a:endParaRPr sz="1600"/>
          </a:p>
          <a:p>
            <a:pPr indent="0" lvl="0" marL="0" rtl="0" algn="just">
              <a:lnSpc>
                <a:spcPct val="115000"/>
              </a:lnSpc>
              <a:spcBef>
                <a:spcPts val="1200"/>
              </a:spcBef>
              <a:spcAft>
                <a:spcPts val="1200"/>
              </a:spcAft>
              <a:buNone/>
            </a:pPr>
            <a:r>
              <a:rPr lang="en-GB" sz="1600"/>
              <a:t>This project follows the </a:t>
            </a:r>
            <a:r>
              <a:rPr b="1" lang="en-GB" sz="1600"/>
              <a:t>Data Analysis Process</a:t>
            </a:r>
            <a:r>
              <a:rPr lang="en-GB" sz="1600"/>
              <a:t>: </a:t>
            </a:r>
            <a:r>
              <a:rPr b="1" lang="en-GB" sz="1600"/>
              <a:t>Ask → Prepare → Process → Analyze → Share → Act</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801000" y="393750"/>
            <a:ext cx="75420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Business Scenario</a:t>
            </a:r>
            <a:endParaRPr b="1" sz="3000">
              <a:latin typeface="Lato"/>
              <a:ea typeface="Lato"/>
              <a:cs typeface="Lato"/>
              <a:sym typeface="Lato"/>
            </a:endParaRPr>
          </a:p>
        </p:txBody>
      </p:sp>
      <p:sp>
        <p:nvSpPr>
          <p:cNvPr id="147" name="Google Shape;147;p15"/>
          <p:cNvSpPr txBox="1"/>
          <p:nvPr>
            <p:ph idx="1" type="body"/>
          </p:nvPr>
        </p:nvSpPr>
        <p:spPr>
          <a:xfrm>
            <a:off x="715675" y="1567550"/>
            <a:ext cx="7620600" cy="2911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GB" sz="1600"/>
              <a:t>A fitness technology company aims to analyze Fitbit user data to gain insights into </a:t>
            </a:r>
            <a:r>
              <a:rPr b="1" lang="en-GB" sz="1600"/>
              <a:t>daily activity levels</a:t>
            </a:r>
            <a:r>
              <a:rPr lang="en-GB" sz="1600"/>
              <a:t>, </a:t>
            </a:r>
            <a:r>
              <a:rPr b="1" lang="en-GB" sz="1600"/>
              <a:t>user engagement patterns</a:t>
            </a:r>
            <a:r>
              <a:rPr lang="en-GB" sz="1600"/>
              <a:t>, and </a:t>
            </a:r>
            <a:r>
              <a:rPr b="1" lang="en-GB" sz="1600"/>
              <a:t>sleep and active behavior trends.</a:t>
            </a:r>
            <a:r>
              <a:rPr lang="en-GB" sz="1600"/>
              <a:t> </a:t>
            </a:r>
            <a:endParaRPr sz="1600"/>
          </a:p>
          <a:p>
            <a:pPr indent="0" lvl="0" marL="0" rtl="0" algn="just">
              <a:spcBef>
                <a:spcPts val="1200"/>
              </a:spcBef>
              <a:spcAft>
                <a:spcPts val="1200"/>
              </a:spcAft>
              <a:buNone/>
            </a:pPr>
            <a:r>
              <a:rPr lang="en-GB" sz="1600"/>
              <a:t>By understanding how users interact with fitness tracking features such as </a:t>
            </a:r>
            <a:r>
              <a:rPr b="1" lang="en-GB" sz="1600"/>
              <a:t>steps</a:t>
            </a:r>
            <a:r>
              <a:rPr lang="en-GB" sz="1600"/>
              <a:t>, </a:t>
            </a:r>
            <a:r>
              <a:rPr b="1" lang="en-GB" sz="1600"/>
              <a:t>calories</a:t>
            </a:r>
            <a:r>
              <a:rPr lang="en-GB" sz="1600"/>
              <a:t>, and </a:t>
            </a:r>
            <a:r>
              <a:rPr b="1" lang="en-GB" sz="1600"/>
              <a:t>activity intensity</a:t>
            </a:r>
            <a:r>
              <a:rPr lang="en-GB" sz="1600"/>
              <a:t>, the company can improve personalized fitness recommendations, design targeted health and wellness programs, and increase overall user engagement with the application.</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770750" y="401625"/>
            <a:ext cx="75657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TASKS</a:t>
            </a:r>
            <a:endParaRPr b="1" sz="3000">
              <a:latin typeface="Lato"/>
              <a:ea typeface="Lato"/>
              <a:cs typeface="Lato"/>
              <a:sym typeface="Lato"/>
            </a:endParaRPr>
          </a:p>
        </p:txBody>
      </p:sp>
      <p:sp>
        <p:nvSpPr>
          <p:cNvPr id="153" name="Google Shape;153;p16"/>
          <p:cNvSpPr txBox="1"/>
          <p:nvPr>
            <p:ph idx="1" type="body"/>
          </p:nvPr>
        </p:nvSpPr>
        <p:spPr>
          <a:xfrm>
            <a:off x="770750" y="1567550"/>
            <a:ext cx="7565700" cy="2911200"/>
          </a:xfrm>
          <a:prstGeom prst="rect">
            <a:avLst/>
          </a:prstGeom>
        </p:spPr>
        <p:txBody>
          <a:bodyPr anchorCtr="0" anchor="t" bIns="91425" lIns="91425" spcFirstLastPara="1" rIns="91425" wrap="square" tIns="91425">
            <a:noAutofit/>
          </a:bodyPr>
          <a:lstStyle/>
          <a:p>
            <a:pPr indent="-330200" lvl="0" marL="457200" rtl="0" algn="l">
              <a:spcBef>
                <a:spcPts val="1200"/>
              </a:spcBef>
              <a:spcAft>
                <a:spcPts val="0"/>
              </a:spcAft>
              <a:buSzPts val="1600"/>
              <a:buAutoNum type="arabicPeriod"/>
            </a:pPr>
            <a:r>
              <a:rPr lang="en-GB" sz="1600"/>
              <a:t>What are the key trends in Fitbit smart device usage?</a:t>
            </a:r>
            <a:br>
              <a:rPr lang="en-GB" sz="1600"/>
            </a:br>
            <a:endParaRPr sz="1600"/>
          </a:p>
          <a:p>
            <a:pPr indent="-330200" lvl="0" marL="457200" rtl="0" algn="l">
              <a:spcBef>
                <a:spcPts val="0"/>
              </a:spcBef>
              <a:spcAft>
                <a:spcPts val="0"/>
              </a:spcAft>
              <a:buSzPts val="1600"/>
              <a:buAutoNum type="arabicPeriod"/>
            </a:pPr>
            <a:r>
              <a:rPr lang="en-GB" sz="1600"/>
              <a:t>How can these usage trends be applied to Bellabeat customers?</a:t>
            </a:r>
            <a:br>
              <a:rPr lang="en-GB" sz="1600"/>
            </a:br>
            <a:endParaRPr sz="1600"/>
          </a:p>
          <a:p>
            <a:pPr indent="-330200" lvl="0" marL="457200" rtl="0" algn="l">
              <a:spcBef>
                <a:spcPts val="0"/>
              </a:spcBef>
              <a:spcAft>
                <a:spcPts val="0"/>
              </a:spcAft>
              <a:buSzPts val="1600"/>
              <a:buFont typeface="Arial"/>
              <a:buAutoNum type="arabicPeriod"/>
            </a:pPr>
            <a:r>
              <a:rPr lang="en-GB" sz="1600"/>
              <a:t>How can these insights help improve the marketing strategy for Bellabeat products?</a:t>
            </a:r>
            <a:br>
              <a:rPr b="1" lang="en-GB" sz="1600"/>
            </a:br>
            <a:endParaRPr b="1" sz="1600"/>
          </a:p>
          <a:p>
            <a:pPr indent="0" lvl="0" marL="457200" rtl="0" algn="l">
              <a:lnSpc>
                <a:spcPct val="150000"/>
              </a:lnSpc>
              <a:spcBef>
                <a:spcPts val="1200"/>
              </a:spcBef>
              <a:spcAft>
                <a:spcPts val="0"/>
              </a:spcAft>
              <a:buNone/>
            </a:pPr>
            <a:r>
              <a:t/>
            </a:r>
            <a:endParaRPr sz="1600"/>
          </a:p>
          <a:p>
            <a:pPr indent="0" lvl="0" marL="0" rtl="0" algn="l">
              <a:spcBef>
                <a:spcPts val="1200"/>
              </a:spcBef>
              <a:spcAft>
                <a:spcPts val="120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462950" y="274375"/>
            <a:ext cx="6393900" cy="68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3000">
                <a:latin typeface="Lato"/>
                <a:ea typeface="Lato"/>
                <a:cs typeface="Lato"/>
                <a:sym typeface="Lato"/>
              </a:rPr>
              <a:t>Business Questions (Ask)</a:t>
            </a:r>
            <a:endParaRPr b="1" sz="3000">
              <a:latin typeface="Lato"/>
              <a:ea typeface="Lato"/>
              <a:cs typeface="Lato"/>
              <a:sym typeface="Lato"/>
            </a:endParaRPr>
          </a:p>
        </p:txBody>
      </p:sp>
      <p:sp>
        <p:nvSpPr>
          <p:cNvPr id="159" name="Google Shape;159;p17"/>
          <p:cNvSpPr txBox="1"/>
          <p:nvPr/>
        </p:nvSpPr>
        <p:spPr>
          <a:xfrm>
            <a:off x="1038150" y="1006675"/>
            <a:ext cx="7243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60" name="Google Shape;160;p17"/>
          <p:cNvSpPr txBox="1"/>
          <p:nvPr/>
        </p:nvSpPr>
        <p:spPr>
          <a:xfrm>
            <a:off x="702600" y="1242625"/>
            <a:ext cx="7738800" cy="364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GB" sz="1600">
                <a:solidFill>
                  <a:schemeClr val="lt1"/>
                </a:solidFill>
                <a:latin typeface="Lato"/>
                <a:ea typeface="Lato"/>
                <a:cs typeface="Lato"/>
                <a:sym typeface="Lato"/>
              </a:rPr>
              <a:t>To achieve these objectives, the following key questions were explored during the analysis:</a:t>
            </a:r>
            <a:endParaRPr sz="1600">
              <a:solidFill>
                <a:schemeClr val="lt1"/>
              </a:solidFill>
              <a:latin typeface="Lato"/>
              <a:ea typeface="Lato"/>
              <a:cs typeface="Lato"/>
              <a:sym typeface="Lato"/>
            </a:endParaRPr>
          </a:p>
          <a:p>
            <a:pPr indent="-317500" lvl="0" marL="457200" rtl="0" algn="l">
              <a:lnSpc>
                <a:spcPct val="150000"/>
              </a:lnSpc>
              <a:spcBef>
                <a:spcPts val="1200"/>
              </a:spcBef>
              <a:spcAft>
                <a:spcPts val="0"/>
              </a:spcAft>
              <a:buClr>
                <a:schemeClr val="lt1"/>
              </a:buClr>
              <a:buSzPts val="1400"/>
              <a:buChar char="●"/>
            </a:pPr>
            <a:r>
              <a:rPr lang="en-GB" sz="1600">
                <a:solidFill>
                  <a:schemeClr val="lt1"/>
                </a:solidFill>
                <a:latin typeface="Lato"/>
                <a:ea typeface="Lato"/>
                <a:cs typeface="Lato"/>
                <a:sym typeface="Lato"/>
              </a:rPr>
              <a:t>How active are users on a daily basis?</a:t>
            </a:r>
            <a:endParaRPr sz="1600">
              <a:solidFill>
                <a:schemeClr val="lt1"/>
              </a:solidFill>
              <a:latin typeface="Lato"/>
              <a:ea typeface="Lato"/>
              <a:cs typeface="Lato"/>
              <a:sym typeface="Lato"/>
            </a:endParaRPr>
          </a:p>
          <a:p>
            <a:pPr indent="-317500" lvl="0" marL="457200" rtl="0" algn="l">
              <a:lnSpc>
                <a:spcPct val="150000"/>
              </a:lnSpc>
              <a:spcBef>
                <a:spcPts val="0"/>
              </a:spcBef>
              <a:spcAft>
                <a:spcPts val="0"/>
              </a:spcAft>
              <a:buClr>
                <a:schemeClr val="lt1"/>
              </a:buClr>
              <a:buSzPts val="1400"/>
              <a:buChar char="●"/>
            </a:pPr>
            <a:r>
              <a:rPr lang="en-GB" sz="1600">
                <a:solidFill>
                  <a:schemeClr val="lt1"/>
                </a:solidFill>
                <a:latin typeface="Lato"/>
                <a:ea typeface="Lato"/>
                <a:cs typeface="Lato"/>
                <a:sym typeface="Lato"/>
              </a:rPr>
              <a:t>What is the average number of steps taken per day?</a:t>
            </a:r>
            <a:endParaRPr sz="1600">
              <a:solidFill>
                <a:schemeClr val="lt1"/>
              </a:solidFill>
              <a:latin typeface="Lato"/>
              <a:ea typeface="Lato"/>
              <a:cs typeface="Lato"/>
              <a:sym typeface="Lato"/>
            </a:endParaRPr>
          </a:p>
          <a:p>
            <a:pPr indent="-317500" lvl="0" marL="457200" rtl="0" algn="l">
              <a:lnSpc>
                <a:spcPct val="150000"/>
              </a:lnSpc>
              <a:spcBef>
                <a:spcPts val="0"/>
              </a:spcBef>
              <a:spcAft>
                <a:spcPts val="0"/>
              </a:spcAft>
              <a:buClr>
                <a:schemeClr val="lt1"/>
              </a:buClr>
              <a:buSzPts val="1400"/>
              <a:buChar char="●"/>
            </a:pPr>
            <a:r>
              <a:rPr lang="en-GB" sz="1600">
                <a:solidFill>
                  <a:schemeClr val="lt1"/>
                </a:solidFill>
                <a:latin typeface="Lato"/>
                <a:ea typeface="Lato"/>
                <a:cs typeface="Lato"/>
                <a:sym typeface="Lato"/>
              </a:rPr>
              <a:t>How does physical activity vary across different days of the week?</a:t>
            </a:r>
            <a:endParaRPr sz="1600">
              <a:solidFill>
                <a:schemeClr val="lt1"/>
              </a:solidFill>
              <a:latin typeface="Lato"/>
              <a:ea typeface="Lato"/>
              <a:cs typeface="Lato"/>
              <a:sym typeface="Lato"/>
            </a:endParaRPr>
          </a:p>
          <a:p>
            <a:pPr indent="-317500" lvl="0" marL="457200" rtl="0" algn="l">
              <a:lnSpc>
                <a:spcPct val="150000"/>
              </a:lnSpc>
              <a:spcBef>
                <a:spcPts val="0"/>
              </a:spcBef>
              <a:spcAft>
                <a:spcPts val="0"/>
              </a:spcAft>
              <a:buClr>
                <a:schemeClr val="lt1"/>
              </a:buClr>
              <a:buSzPts val="1400"/>
              <a:buChar char="●"/>
            </a:pPr>
            <a:r>
              <a:rPr lang="en-GB" sz="1600">
                <a:solidFill>
                  <a:schemeClr val="lt1"/>
                </a:solidFill>
                <a:latin typeface="Lato"/>
                <a:ea typeface="Lato"/>
                <a:cs typeface="Lato"/>
                <a:sym typeface="Lato"/>
              </a:rPr>
              <a:t>Is there a relationship between steps taken, calories burned, and active minutes?</a:t>
            </a:r>
            <a:endParaRPr sz="1600">
              <a:solidFill>
                <a:schemeClr val="lt1"/>
              </a:solidFill>
              <a:latin typeface="Lato"/>
              <a:ea typeface="Lato"/>
              <a:cs typeface="Lato"/>
              <a:sym typeface="Lato"/>
            </a:endParaRPr>
          </a:p>
          <a:p>
            <a:pPr indent="-317500" lvl="0" marL="457200" rtl="0" algn="l">
              <a:lnSpc>
                <a:spcPct val="150000"/>
              </a:lnSpc>
              <a:spcBef>
                <a:spcPts val="0"/>
              </a:spcBef>
              <a:spcAft>
                <a:spcPts val="0"/>
              </a:spcAft>
              <a:buClr>
                <a:schemeClr val="lt1"/>
              </a:buClr>
              <a:buSzPts val="1400"/>
              <a:buChar char="●"/>
            </a:pPr>
            <a:r>
              <a:rPr lang="en-GB" sz="1600">
                <a:solidFill>
                  <a:schemeClr val="lt1"/>
                </a:solidFill>
                <a:latin typeface="Lato"/>
                <a:ea typeface="Lato"/>
                <a:cs typeface="Lato"/>
                <a:sym typeface="Lato"/>
              </a:rPr>
              <a:t>What patterns can be observed in overall user engagement?</a:t>
            </a:r>
            <a:endParaRPr sz="1600">
              <a:solidFill>
                <a:schemeClr val="lt1"/>
              </a:solidFill>
              <a:latin typeface="Lato"/>
              <a:ea typeface="Lato"/>
              <a:cs typeface="Lato"/>
              <a:sym typeface="Lato"/>
            </a:endParaRPr>
          </a:p>
          <a:p>
            <a:pPr indent="0" lvl="0" marL="0" rtl="0" algn="l">
              <a:spcBef>
                <a:spcPts val="120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1052550" y="1892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Data Preparation (Prepare)</a:t>
            </a:r>
            <a:endParaRPr b="1" sz="3000">
              <a:latin typeface="Lato"/>
              <a:ea typeface="Lato"/>
              <a:cs typeface="Lato"/>
              <a:sym typeface="Lato"/>
            </a:endParaRPr>
          </a:p>
        </p:txBody>
      </p:sp>
      <p:sp>
        <p:nvSpPr>
          <p:cNvPr id="166" name="Google Shape;166;p18"/>
          <p:cNvSpPr txBox="1"/>
          <p:nvPr>
            <p:ph idx="1" type="body"/>
          </p:nvPr>
        </p:nvSpPr>
        <p:spPr>
          <a:xfrm>
            <a:off x="1030300" y="1803500"/>
            <a:ext cx="2091900" cy="2121000"/>
          </a:xfrm>
          <a:prstGeom prst="rect">
            <a:avLst/>
          </a:prstGeom>
        </p:spPr>
        <p:txBody>
          <a:bodyPr anchorCtr="0" anchor="t" bIns="91425" lIns="91425" spcFirstLastPara="1" rIns="91425" wrap="square" tIns="91425">
            <a:noAutofit/>
          </a:bodyPr>
          <a:lstStyle/>
          <a:p>
            <a:pPr indent="-330200" lvl="0" marL="457200" rtl="0" algn="l">
              <a:spcBef>
                <a:spcPts val="1200"/>
              </a:spcBef>
              <a:spcAft>
                <a:spcPts val="0"/>
              </a:spcAft>
              <a:buClr>
                <a:schemeClr val="lt1"/>
              </a:buClr>
              <a:buSzPts val="1600"/>
              <a:buFont typeface="Lato"/>
              <a:buChar char="●"/>
            </a:pPr>
            <a:r>
              <a:rPr lang="en-GB" sz="1600"/>
              <a:t>Id (User ID)</a:t>
            </a:r>
            <a:endParaRPr sz="1600"/>
          </a:p>
          <a:p>
            <a:pPr indent="-330200" lvl="0" marL="457200" rtl="0" algn="l">
              <a:spcBef>
                <a:spcPts val="0"/>
              </a:spcBef>
              <a:spcAft>
                <a:spcPts val="0"/>
              </a:spcAft>
              <a:buClr>
                <a:schemeClr val="lt1"/>
              </a:buClr>
              <a:buSzPts val="1600"/>
              <a:buFont typeface="Lato"/>
              <a:buChar char="●"/>
            </a:pPr>
            <a:r>
              <a:rPr lang="en-GB" sz="1600"/>
              <a:t>Activity Date</a:t>
            </a:r>
            <a:endParaRPr sz="1600"/>
          </a:p>
          <a:p>
            <a:pPr indent="-330200" lvl="0" marL="457200" rtl="0" algn="l">
              <a:spcBef>
                <a:spcPts val="0"/>
              </a:spcBef>
              <a:spcAft>
                <a:spcPts val="0"/>
              </a:spcAft>
              <a:buClr>
                <a:schemeClr val="lt1"/>
              </a:buClr>
              <a:buSzPts val="1600"/>
              <a:buFont typeface="Lato"/>
              <a:buChar char="●"/>
            </a:pPr>
            <a:r>
              <a:rPr lang="en-GB" sz="1600"/>
              <a:t>Total Steps</a:t>
            </a:r>
            <a:endParaRPr sz="1600"/>
          </a:p>
          <a:p>
            <a:pPr indent="-330200" lvl="0" marL="457200" rtl="0" algn="l">
              <a:spcBef>
                <a:spcPts val="0"/>
              </a:spcBef>
              <a:spcAft>
                <a:spcPts val="0"/>
              </a:spcAft>
              <a:buClr>
                <a:schemeClr val="lt1"/>
              </a:buClr>
              <a:buSzPts val="1600"/>
              <a:buFont typeface="Lato"/>
              <a:buChar char="●"/>
            </a:pPr>
            <a:r>
              <a:rPr lang="en-GB" sz="1600"/>
              <a:t>Total Distance</a:t>
            </a:r>
            <a:endParaRPr sz="1600"/>
          </a:p>
          <a:p>
            <a:pPr indent="-330200" lvl="0" marL="457200" rtl="0" algn="l">
              <a:spcBef>
                <a:spcPts val="0"/>
              </a:spcBef>
              <a:spcAft>
                <a:spcPts val="0"/>
              </a:spcAft>
              <a:buClr>
                <a:schemeClr val="lt1"/>
              </a:buClr>
              <a:buSzPts val="1600"/>
              <a:buFont typeface="Lato"/>
              <a:buChar char="●"/>
            </a:pPr>
            <a:r>
              <a:rPr lang="en-GB" sz="1600"/>
              <a:t>Calories</a:t>
            </a:r>
            <a:endParaRPr sz="1600"/>
          </a:p>
          <a:p>
            <a:pPr indent="0" lvl="0" marL="457200" rtl="0" algn="l">
              <a:spcBef>
                <a:spcPts val="1200"/>
              </a:spcBef>
              <a:spcAft>
                <a:spcPts val="1200"/>
              </a:spcAft>
              <a:buNone/>
            </a:pPr>
            <a:r>
              <a:t/>
            </a:r>
            <a:endParaRPr sz="1600">
              <a:latin typeface="Arial"/>
              <a:ea typeface="Arial"/>
              <a:cs typeface="Arial"/>
              <a:sym typeface="Arial"/>
            </a:endParaRPr>
          </a:p>
        </p:txBody>
      </p:sp>
      <p:sp>
        <p:nvSpPr>
          <p:cNvPr id="167" name="Google Shape;167;p18"/>
          <p:cNvSpPr txBox="1"/>
          <p:nvPr/>
        </p:nvSpPr>
        <p:spPr>
          <a:xfrm>
            <a:off x="4883975" y="1803500"/>
            <a:ext cx="3484200" cy="12807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lt1"/>
              </a:buClr>
              <a:buSzPts val="1600"/>
              <a:buFont typeface="Lato"/>
              <a:buChar char="●"/>
            </a:pPr>
            <a:r>
              <a:rPr lang="en-GB" sz="1600">
                <a:solidFill>
                  <a:schemeClr val="lt1"/>
                </a:solidFill>
                <a:latin typeface="Lato"/>
                <a:ea typeface="Lato"/>
                <a:cs typeface="Lato"/>
                <a:sym typeface="Lato"/>
              </a:rPr>
              <a:t>Very Active Minutes</a:t>
            </a:r>
            <a:endParaRPr sz="1600">
              <a:solidFill>
                <a:schemeClr val="lt1"/>
              </a:solidFill>
              <a:latin typeface="Lato"/>
              <a:ea typeface="Lato"/>
              <a:cs typeface="Lato"/>
              <a:sym typeface="Lato"/>
            </a:endParaRPr>
          </a:p>
          <a:p>
            <a:pPr indent="-330200" lvl="0" marL="457200" rtl="0" algn="l">
              <a:lnSpc>
                <a:spcPct val="115000"/>
              </a:lnSpc>
              <a:spcBef>
                <a:spcPts val="0"/>
              </a:spcBef>
              <a:spcAft>
                <a:spcPts val="0"/>
              </a:spcAft>
              <a:buClr>
                <a:schemeClr val="lt1"/>
              </a:buClr>
              <a:buSzPts val="1600"/>
              <a:buFont typeface="Lato"/>
              <a:buChar char="●"/>
            </a:pPr>
            <a:r>
              <a:rPr lang="en-GB" sz="1600">
                <a:solidFill>
                  <a:schemeClr val="lt1"/>
                </a:solidFill>
                <a:latin typeface="Lato"/>
                <a:ea typeface="Lato"/>
                <a:cs typeface="Lato"/>
                <a:sym typeface="Lato"/>
              </a:rPr>
              <a:t>Fairly Active Minutes</a:t>
            </a:r>
            <a:endParaRPr sz="1600">
              <a:solidFill>
                <a:schemeClr val="lt1"/>
              </a:solidFill>
              <a:latin typeface="Lato"/>
              <a:ea typeface="Lato"/>
              <a:cs typeface="Lato"/>
              <a:sym typeface="Lato"/>
            </a:endParaRPr>
          </a:p>
          <a:p>
            <a:pPr indent="-330200" lvl="0" marL="457200" rtl="0" algn="l">
              <a:lnSpc>
                <a:spcPct val="115000"/>
              </a:lnSpc>
              <a:spcBef>
                <a:spcPts val="0"/>
              </a:spcBef>
              <a:spcAft>
                <a:spcPts val="0"/>
              </a:spcAft>
              <a:buClr>
                <a:schemeClr val="lt1"/>
              </a:buClr>
              <a:buSzPts val="1600"/>
              <a:buFont typeface="Lato"/>
              <a:buChar char="●"/>
            </a:pPr>
            <a:r>
              <a:rPr lang="en-GB" sz="1600">
                <a:solidFill>
                  <a:schemeClr val="lt1"/>
                </a:solidFill>
                <a:latin typeface="Lato"/>
                <a:ea typeface="Lato"/>
                <a:cs typeface="Lato"/>
                <a:sym typeface="Lato"/>
              </a:rPr>
              <a:t>Lightly Active Minutes</a:t>
            </a:r>
            <a:endParaRPr sz="1600">
              <a:solidFill>
                <a:schemeClr val="lt1"/>
              </a:solidFill>
              <a:latin typeface="Lato"/>
              <a:ea typeface="Lato"/>
              <a:cs typeface="Lato"/>
              <a:sym typeface="Lato"/>
            </a:endParaRPr>
          </a:p>
          <a:p>
            <a:pPr indent="-330200" lvl="0" marL="457200" rtl="0" algn="l">
              <a:lnSpc>
                <a:spcPct val="115000"/>
              </a:lnSpc>
              <a:spcBef>
                <a:spcPts val="0"/>
              </a:spcBef>
              <a:spcAft>
                <a:spcPts val="0"/>
              </a:spcAft>
              <a:buClr>
                <a:schemeClr val="lt1"/>
              </a:buClr>
              <a:buSzPts val="1600"/>
              <a:buFont typeface="Lato"/>
              <a:buChar char="●"/>
            </a:pPr>
            <a:r>
              <a:rPr lang="en-GB" sz="1600">
                <a:solidFill>
                  <a:schemeClr val="lt1"/>
                </a:solidFill>
                <a:latin typeface="Lato"/>
                <a:ea typeface="Lato"/>
                <a:cs typeface="Lato"/>
                <a:sym typeface="Lato"/>
              </a:rPr>
              <a:t>Sedentary Minutes</a:t>
            </a:r>
            <a:endParaRPr sz="1300">
              <a:solidFill>
                <a:schemeClr val="lt1"/>
              </a:solidFill>
              <a:latin typeface="Lato"/>
              <a:ea typeface="Lato"/>
              <a:cs typeface="Lato"/>
              <a:sym typeface="Lato"/>
            </a:endParaRPr>
          </a:p>
        </p:txBody>
      </p:sp>
      <p:sp>
        <p:nvSpPr>
          <p:cNvPr id="168" name="Google Shape;168;p18"/>
          <p:cNvSpPr txBox="1"/>
          <p:nvPr/>
        </p:nvSpPr>
        <p:spPr>
          <a:xfrm>
            <a:off x="1030300" y="1292100"/>
            <a:ext cx="4530000" cy="82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600">
                <a:solidFill>
                  <a:schemeClr val="lt1"/>
                </a:solidFill>
                <a:latin typeface="Lato"/>
                <a:ea typeface="Lato"/>
                <a:cs typeface="Lato"/>
                <a:sym typeface="Lato"/>
              </a:rPr>
              <a:t>Key Columns:</a:t>
            </a:r>
            <a:endParaRPr b="1" sz="1600">
              <a:solidFill>
                <a:schemeClr val="lt1"/>
              </a:solidFill>
              <a:latin typeface="Lato"/>
              <a:ea typeface="Lato"/>
              <a:cs typeface="Lato"/>
              <a:sym typeface="Lato"/>
            </a:endParaRPr>
          </a:p>
          <a:p>
            <a:pPr indent="0" lvl="0" marL="0" rtl="0" algn="l">
              <a:spcBef>
                <a:spcPts val="120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171800" y="2364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Data Cleaning (Process)</a:t>
            </a:r>
            <a:endParaRPr b="1" sz="3000">
              <a:latin typeface="Lato"/>
              <a:ea typeface="Lato"/>
              <a:cs typeface="Lato"/>
              <a:sym typeface="Lato"/>
            </a:endParaRPr>
          </a:p>
        </p:txBody>
      </p:sp>
      <p:sp>
        <p:nvSpPr>
          <p:cNvPr id="174" name="Google Shape;174;p19"/>
          <p:cNvSpPr txBox="1"/>
          <p:nvPr>
            <p:ph idx="1" type="body"/>
          </p:nvPr>
        </p:nvSpPr>
        <p:spPr>
          <a:xfrm>
            <a:off x="1046100" y="1307850"/>
            <a:ext cx="7290300" cy="2911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600"/>
              <a:t>Before analysis, the data was cleaned and standardized in Excel to ensure reliable results.</a:t>
            </a:r>
            <a:endParaRPr sz="1600"/>
          </a:p>
          <a:p>
            <a:pPr indent="0" lvl="0" marL="0" rtl="0" algn="l">
              <a:spcBef>
                <a:spcPts val="1200"/>
              </a:spcBef>
              <a:spcAft>
                <a:spcPts val="0"/>
              </a:spcAft>
              <a:buNone/>
            </a:pPr>
            <a:r>
              <a:rPr b="1" lang="en-GB" sz="1600"/>
              <a:t>Key steps:</a:t>
            </a:r>
            <a:endParaRPr b="1" sz="1600"/>
          </a:p>
          <a:p>
            <a:pPr indent="-330200" lvl="0" marL="457200" rtl="0" algn="l">
              <a:spcBef>
                <a:spcPts val="1200"/>
              </a:spcBef>
              <a:spcAft>
                <a:spcPts val="0"/>
              </a:spcAft>
              <a:buClr>
                <a:schemeClr val="lt1"/>
              </a:buClr>
              <a:buSzPts val="1600"/>
              <a:buFont typeface="Lato"/>
              <a:buChar char="●"/>
            </a:pPr>
            <a:r>
              <a:rPr lang="en-GB" sz="1600"/>
              <a:t>Removed duplicate records</a:t>
            </a:r>
            <a:br>
              <a:rPr lang="en-GB" sz="1600"/>
            </a:br>
            <a:endParaRPr sz="1600"/>
          </a:p>
          <a:p>
            <a:pPr indent="-330200" lvl="0" marL="457200" rtl="0" algn="l">
              <a:spcBef>
                <a:spcPts val="0"/>
              </a:spcBef>
              <a:spcAft>
                <a:spcPts val="0"/>
              </a:spcAft>
              <a:buClr>
                <a:schemeClr val="lt1"/>
              </a:buClr>
              <a:buSzPts val="1600"/>
              <a:buFont typeface="Lato"/>
              <a:buChar char="●"/>
            </a:pPr>
            <a:r>
              <a:rPr lang="en-GB" sz="1600"/>
              <a:t>Converted date fields into proper date formats</a:t>
            </a:r>
            <a:br>
              <a:rPr lang="en-GB" sz="1600"/>
            </a:br>
            <a:endParaRPr sz="1600"/>
          </a:p>
          <a:p>
            <a:pPr indent="-330200" lvl="0" marL="457200" rtl="0" algn="l">
              <a:spcBef>
                <a:spcPts val="0"/>
              </a:spcBef>
              <a:spcAft>
                <a:spcPts val="0"/>
              </a:spcAft>
              <a:buClr>
                <a:schemeClr val="lt1"/>
              </a:buClr>
              <a:buSzPts val="1600"/>
              <a:buFont typeface="Lato"/>
              <a:buChar char="●"/>
            </a:pPr>
            <a:r>
              <a:rPr lang="en-GB" sz="1600"/>
              <a:t>Handled missing and zero values</a:t>
            </a:r>
            <a:br>
              <a:rPr lang="en-GB" sz="1600"/>
            </a:br>
            <a:endParaRPr sz="1600"/>
          </a:p>
          <a:p>
            <a:pPr indent="-330200" lvl="0" marL="457200" rtl="0" algn="l">
              <a:spcBef>
                <a:spcPts val="0"/>
              </a:spcBef>
              <a:spcAft>
                <a:spcPts val="0"/>
              </a:spcAft>
              <a:buClr>
                <a:schemeClr val="lt1"/>
              </a:buClr>
              <a:buSzPts val="1600"/>
              <a:buFont typeface="Lato"/>
              <a:buChar char="●"/>
            </a:pPr>
            <a:r>
              <a:rPr lang="en-GB" sz="1600"/>
              <a:t>Created calculated fields such as Total Active Minutes and Weekday</a:t>
            </a:r>
            <a:endParaRPr sz="1600"/>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159975" y="283625"/>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Data Analysis (Analyze)</a:t>
            </a:r>
            <a:endParaRPr b="1" sz="3000">
              <a:latin typeface="Lato"/>
              <a:ea typeface="Lato"/>
              <a:cs typeface="Lato"/>
              <a:sym typeface="Lato"/>
            </a:endParaRPr>
          </a:p>
        </p:txBody>
      </p:sp>
      <p:sp>
        <p:nvSpPr>
          <p:cNvPr id="180" name="Google Shape;180;p20"/>
          <p:cNvSpPr txBox="1"/>
          <p:nvPr>
            <p:ph idx="1" type="body"/>
          </p:nvPr>
        </p:nvSpPr>
        <p:spPr>
          <a:xfrm>
            <a:off x="1061725" y="1252950"/>
            <a:ext cx="7235400" cy="29112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1200"/>
              </a:spcBef>
              <a:spcAft>
                <a:spcPts val="0"/>
              </a:spcAft>
              <a:buNone/>
            </a:pPr>
            <a:r>
              <a:rPr lang="en-GB" sz="6423"/>
              <a:t>The analysis revealed clear patterns in user activity and engagement. Most users maintain a moderate level of physical activity, with noticeable differences between weekdays and weekends.</a:t>
            </a:r>
            <a:endParaRPr sz="6423"/>
          </a:p>
          <a:p>
            <a:pPr indent="0" lvl="0" marL="0" rtl="0" algn="l">
              <a:lnSpc>
                <a:spcPct val="150000"/>
              </a:lnSpc>
              <a:spcBef>
                <a:spcPts val="1200"/>
              </a:spcBef>
              <a:spcAft>
                <a:spcPts val="0"/>
              </a:spcAft>
              <a:buNone/>
            </a:pPr>
            <a:r>
              <a:rPr b="1" lang="en-GB" sz="6423"/>
              <a:t>Key observations:</a:t>
            </a:r>
            <a:endParaRPr b="1" sz="6423"/>
          </a:p>
          <a:p>
            <a:pPr indent="-330566" lvl="0" marL="457200" rtl="0" algn="l">
              <a:lnSpc>
                <a:spcPct val="150000"/>
              </a:lnSpc>
              <a:spcBef>
                <a:spcPts val="1200"/>
              </a:spcBef>
              <a:spcAft>
                <a:spcPts val="0"/>
              </a:spcAft>
              <a:buClr>
                <a:schemeClr val="lt1"/>
              </a:buClr>
              <a:buSzPct val="100000"/>
              <a:buFont typeface="Lato"/>
              <a:buChar char="●"/>
            </a:pPr>
            <a:r>
              <a:rPr lang="en-GB" sz="6423"/>
              <a:t>Average daily steps range between </a:t>
            </a:r>
            <a:r>
              <a:rPr b="1" lang="en-GB" sz="6423"/>
              <a:t>6,000–9,000</a:t>
            </a:r>
            <a:endParaRPr b="1" sz="6423"/>
          </a:p>
          <a:p>
            <a:pPr indent="-330566" lvl="0" marL="457200" rtl="0" algn="l">
              <a:lnSpc>
                <a:spcPct val="150000"/>
              </a:lnSpc>
              <a:spcBef>
                <a:spcPts val="0"/>
              </a:spcBef>
              <a:spcAft>
                <a:spcPts val="0"/>
              </a:spcAft>
              <a:buClr>
                <a:schemeClr val="lt1"/>
              </a:buClr>
              <a:buSzPct val="100000"/>
              <a:buFont typeface="Lato"/>
              <a:buChar char="●"/>
            </a:pPr>
            <a:r>
              <a:rPr lang="en-GB" sz="6423"/>
              <a:t>Higher activity levels on weekdays</a:t>
            </a:r>
            <a:endParaRPr sz="6423"/>
          </a:p>
          <a:p>
            <a:pPr indent="-330566" lvl="0" marL="457200" rtl="0" algn="l">
              <a:lnSpc>
                <a:spcPct val="150000"/>
              </a:lnSpc>
              <a:spcBef>
                <a:spcPts val="0"/>
              </a:spcBef>
              <a:spcAft>
                <a:spcPts val="0"/>
              </a:spcAft>
              <a:buClr>
                <a:schemeClr val="lt1"/>
              </a:buClr>
              <a:buSzPct val="100000"/>
              <a:buFont typeface="Lato"/>
              <a:buChar char="●"/>
            </a:pPr>
            <a:r>
              <a:rPr lang="en-GB" sz="6423"/>
              <a:t>Strong correlation between steps, calories burned, and active minutes</a:t>
            </a:r>
            <a:endParaRPr sz="6423"/>
          </a:p>
          <a:p>
            <a:pPr indent="-330566" lvl="0" marL="457200" rtl="0" algn="l">
              <a:lnSpc>
                <a:spcPct val="150000"/>
              </a:lnSpc>
              <a:spcBef>
                <a:spcPts val="0"/>
              </a:spcBef>
              <a:spcAft>
                <a:spcPts val="0"/>
              </a:spcAft>
              <a:buClr>
                <a:schemeClr val="lt1"/>
              </a:buClr>
              <a:buSzPct val="100000"/>
              <a:buFont typeface="Lato"/>
              <a:buChar char="●"/>
            </a:pPr>
            <a:r>
              <a:rPr lang="en-GB" sz="6423"/>
              <a:t>High sedentary time across most users</a:t>
            </a:r>
            <a:endParaRPr sz="6423"/>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title"/>
          </p:nvPr>
        </p:nvSpPr>
        <p:spPr>
          <a:xfrm>
            <a:off x="1046100" y="29150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Visualization (Share)</a:t>
            </a:r>
            <a:endParaRPr b="1" sz="3000">
              <a:latin typeface="Lato"/>
              <a:ea typeface="Lato"/>
              <a:cs typeface="Lato"/>
              <a:sym typeface="Lato"/>
            </a:endParaRPr>
          </a:p>
        </p:txBody>
      </p:sp>
      <p:sp>
        <p:nvSpPr>
          <p:cNvPr id="186" name="Google Shape;186;p21"/>
          <p:cNvSpPr txBox="1"/>
          <p:nvPr>
            <p:ph idx="1" type="body"/>
          </p:nvPr>
        </p:nvSpPr>
        <p:spPr>
          <a:xfrm>
            <a:off x="1046100" y="1205600"/>
            <a:ext cx="7038900" cy="2911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600"/>
              <a:t>Insights were communicated using clear and simple Excel visualizations to support data-driven storytelling.</a:t>
            </a:r>
            <a:endParaRPr sz="1600"/>
          </a:p>
          <a:p>
            <a:pPr indent="0" lvl="0" marL="0" rtl="0" algn="l">
              <a:spcBef>
                <a:spcPts val="1200"/>
              </a:spcBef>
              <a:spcAft>
                <a:spcPts val="0"/>
              </a:spcAft>
              <a:buNone/>
            </a:pPr>
            <a:r>
              <a:rPr b="1" lang="en-GB" sz="1600"/>
              <a:t>Visual tools used:</a:t>
            </a:r>
            <a:endParaRPr b="1" sz="1600"/>
          </a:p>
          <a:p>
            <a:pPr indent="-330200" lvl="0" marL="457200" rtl="0" algn="l">
              <a:lnSpc>
                <a:spcPct val="150000"/>
              </a:lnSpc>
              <a:spcBef>
                <a:spcPts val="1200"/>
              </a:spcBef>
              <a:spcAft>
                <a:spcPts val="0"/>
              </a:spcAft>
              <a:buClr>
                <a:schemeClr val="lt1"/>
              </a:buClr>
              <a:buSzPts val="1600"/>
              <a:buFont typeface="Lato"/>
              <a:buChar char="●"/>
            </a:pPr>
            <a:r>
              <a:rPr lang="en-GB" sz="1600"/>
              <a:t>Pivot Tables</a:t>
            </a:r>
            <a:endParaRPr sz="1600"/>
          </a:p>
          <a:p>
            <a:pPr indent="-330200" lvl="0" marL="457200" rtl="0" algn="l">
              <a:lnSpc>
                <a:spcPct val="150000"/>
              </a:lnSpc>
              <a:spcBef>
                <a:spcPts val="0"/>
              </a:spcBef>
              <a:spcAft>
                <a:spcPts val="0"/>
              </a:spcAft>
              <a:buClr>
                <a:schemeClr val="lt1"/>
              </a:buClr>
              <a:buSzPts val="1600"/>
              <a:buFont typeface="Lato"/>
              <a:buChar char="●"/>
            </a:pPr>
            <a:r>
              <a:rPr lang="en-GB" sz="1600"/>
              <a:t>Scatter plots for steps vs calories</a:t>
            </a:r>
            <a:endParaRPr sz="1600"/>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1297425" y="3465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Key Insights</a:t>
            </a:r>
            <a:endParaRPr b="1" sz="3000">
              <a:latin typeface="Lato"/>
              <a:ea typeface="Lato"/>
              <a:cs typeface="Lato"/>
              <a:sym typeface="Lato"/>
            </a:endParaRPr>
          </a:p>
        </p:txBody>
      </p:sp>
      <p:sp>
        <p:nvSpPr>
          <p:cNvPr id="192" name="Google Shape;192;p22"/>
          <p:cNvSpPr txBox="1"/>
          <p:nvPr>
            <p:ph idx="1" type="body"/>
          </p:nvPr>
        </p:nvSpPr>
        <p:spPr>
          <a:xfrm>
            <a:off x="1191375" y="1543950"/>
            <a:ext cx="7251000" cy="29112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n-GB" sz="1600"/>
              <a:t>The analysis highlights that while users are moderately active, many do not consistently meet recommended activity levels. Activity tends to be higher during weekdays, and step count is a strong indicator of calorie burn. High sedentary time presents an opportunity to encourage healthier movement habits.</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1052550" y="330825"/>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000">
                <a:latin typeface="Lato"/>
                <a:ea typeface="Lato"/>
                <a:cs typeface="Lato"/>
                <a:sym typeface="Lato"/>
              </a:rPr>
              <a:t>Recommendations (Act)</a:t>
            </a:r>
            <a:endParaRPr b="1" sz="3000">
              <a:latin typeface="Lato"/>
              <a:ea typeface="Lato"/>
              <a:cs typeface="Lato"/>
              <a:sym typeface="Lato"/>
            </a:endParaRPr>
          </a:p>
        </p:txBody>
      </p:sp>
      <p:sp>
        <p:nvSpPr>
          <p:cNvPr id="198" name="Google Shape;198;p23"/>
          <p:cNvSpPr txBox="1"/>
          <p:nvPr>
            <p:ph idx="1" type="body"/>
          </p:nvPr>
        </p:nvSpPr>
        <p:spPr>
          <a:xfrm>
            <a:off x="1069600" y="1567550"/>
            <a:ext cx="7266900" cy="29112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1200"/>
              </a:spcBef>
              <a:spcAft>
                <a:spcPts val="0"/>
              </a:spcAft>
              <a:buNone/>
            </a:pPr>
            <a:r>
              <a:rPr lang="en-GB" sz="1600"/>
              <a:t>Based on the insights, several actionable recommendations were identified to improve user engagement and wellness outcomes.</a:t>
            </a:r>
            <a:endParaRPr sz="1600"/>
          </a:p>
          <a:p>
            <a:pPr indent="0" lvl="0" marL="0" rtl="0" algn="l">
              <a:lnSpc>
                <a:spcPct val="150000"/>
              </a:lnSpc>
              <a:spcBef>
                <a:spcPts val="1200"/>
              </a:spcBef>
              <a:spcAft>
                <a:spcPts val="0"/>
              </a:spcAft>
              <a:buNone/>
            </a:pPr>
            <a:r>
              <a:rPr b="1" lang="en-GB" sz="1600"/>
              <a:t>Recommendations:</a:t>
            </a:r>
            <a:endParaRPr b="1" sz="1600"/>
          </a:p>
          <a:p>
            <a:pPr indent="-322580" lvl="0" marL="457200" rtl="0" algn="l">
              <a:lnSpc>
                <a:spcPct val="150000"/>
              </a:lnSpc>
              <a:spcBef>
                <a:spcPts val="1200"/>
              </a:spcBef>
              <a:spcAft>
                <a:spcPts val="0"/>
              </a:spcAft>
              <a:buClr>
                <a:schemeClr val="lt1"/>
              </a:buClr>
              <a:buSzPct val="100000"/>
              <a:buFont typeface="Lato"/>
              <a:buChar char="●"/>
            </a:pPr>
            <a:r>
              <a:rPr lang="en-GB" sz="1600"/>
              <a:t>Send personalized reminders to users with low activity levels</a:t>
            </a:r>
            <a:endParaRPr sz="1600"/>
          </a:p>
          <a:p>
            <a:pPr indent="-322580" lvl="0" marL="457200" rtl="0" algn="l">
              <a:lnSpc>
                <a:spcPct val="150000"/>
              </a:lnSpc>
              <a:spcBef>
                <a:spcPts val="0"/>
              </a:spcBef>
              <a:spcAft>
                <a:spcPts val="0"/>
              </a:spcAft>
              <a:buClr>
                <a:schemeClr val="lt1"/>
              </a:buClr>
              <a:buSzPct val="100000"/>
              <a:buFont typeface="Lato"/>
              <a:buChar char="●"/>
            </a:pPr>
            <a:r>
              <a:rPr lang="en-GB" sz="1600"/>
              <a:t>Introduce weekday and weekend fitness challenges</a:t>
            </a:r>
            <a:endParaRPr sz="1600"/>
          </a:p>
          <a:p>
            <a:pPr indent="-322580" lvl="0" marL="457200" rtl="0" algn="l">
              <a:lnSpc>
                <a:spcPct val="150000"/>
              </a:lnSpc>
              <a:spcBef>
                <a:spcPts val="0"/>
              </a:spcBef>
              <a:spcAft>
                <a:spcPts val="0"/>
              </a:spcAft>
              <a:buClr>
                <a:schemeClr val="lt1"/>
              </a:buClr>
              <a:buSzPct val="100000"/>
              <a:buFont typeface="Lato"/>
              <a:buChar char="●"/>
            </a:pPr>
            <a:r>
              <a:rPr lang="en-GB" sz="1600"/>
              <a:t>Encourage short movement breaks to reduce sedentary time</a:t>
            </a:r>
            <a:endParaRPr sz="1600"/>
          </a:p>
          <a:p>
            <a:pPr indent="-322580" lvl="0" marL="457200" rtl="0" algn="l">
              <a:lnSpc>
                <a:spcPct val="150000"/>
              </a:lnSpc>
              <a:spcBef>
                <a:spcPts val="0"/>
              </a:spcBef>
              <a:spcAft>
                <a:spcPts val="0"/>
              </a:spcAft>
              <a:buClr>
                <a:schemeClr val="lt1"/>
              </a:buClr>
              <a:buSzPct val="100000"/>
              <a:buFont typeface="Lato"/>
              <a:buChar char="●"/>
            </a:pPr>
            <a:r>
              <a:rPr lang="en-GB" sz="1600"/>
              <a:t>Customize notifications based on individual activity behavior</a:t>
            </a:r>
            <a:endParaRPr sz="1600"/>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1038000" y="244325"/>
            <a:ext cx="7298400" cy="549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2000">
                <a:latin typeface="Lato"/>
                <a:ea typeface="Lato"/>
                <a:cs typeface="Lato"/>
                <a:sym typeface="Lato"/>
              </a:rPr>
              <a:t>What are the key trends in Fitbit smart device usage?</a:t>
            </a:r>
            <a:br>
              <a:rPr b="1" lang="en-GB" sz="2500">
                <a:latin typeface="Lato"/>
                <a:ea typeface="Lato"/>
                <a:cs typeface="Lato"/>
                <a:sym typeface="Lato"/>
              </a:rPr>
            </a:br>
            <a:endParaRPr b="1" sz="2500">
              <a:latin typeface="Lato"/>
              <a:ea typeface="Lato"/>
              <a:cs typeface="Lato"/>
              <a:sym typeface="Lato"/>
            </a:endParaRPr>
          </a:p>
          <a:p>
            <a:pPr indent="0" lvl="0" marL="0" rtl="0" algn="l">
              <a:spcBef>
                <a:spcPts val="1200"/>
              </a:spcBef>
              <a:spcAft>
                <a:spcPts val="0"/>
              </a:spcAft>
              <a:buNone/>
            </a:pPr>
            <a:r>
              <a:t/>
            </a:r>
            <a:endParaRPr/>
          </a:p>
        </p:txBody>
      </p:sp>
      <p:sp>
        <p:nvSpPr>
          <p:cNvPr id="204" name="Google Shape;204;p24"/>
          <p:cNvSpPr txBox="1"/>
          <p:nvPr>
            <p:ph idx="1" type="body"/>
          </p:nvPr>
        </p:nvSpPr>
        <p:spPr>
          <a:xfrm>
            <a:off x="1038000" y="836150"/>
            <a:ext cx="7298400" cy="38748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SzPts val="770"/>
              <a:buNone/>
            </a:pPr>
            <a:r>
              <a:rPr lang="en-GB" sz="1620"/>
              <a:t>The analysis shows that most users maintain a </a:t>
            </a:r>
            <a:r>
              <a:rPr b="1" lang="en-GB" sz="1620"/>
              <a:t>moderate level of daily activity</a:t>
            </a:r>
            <a:r>
              <a:rPr lang="en-GB" sz="1620"/>
              <a:t>, averaging between </a:t>
            </a:r>
            <a:r>
              <a:rPr b="1" lang="en-GB" sz="1620"/>
              <a:t>6,000–9,000 steps per day</a:t>
            </a:r>
            <a:r>
              <a:rPr lang="en-GB" sz="1620"/>
              <a:t>. Activity levels are generally </a:t>
            </a:r>
            <a:r>
              <a:rPr b="1" lang="en-GB" sz="1620"/>
              <a:t>higher on weekdays</a:t>
            </a:r>
            <a:r>
              <a:rPr lang="en-GB" sz="1620"/>
              <a:t> and slightly lower on weekends, indicating that users are more active during structured routines. There is also a </a:t>
            </a:r>
            <a:r>
              <a:rPr b="1" lang="en-GB" sz="1620"/>
              <a:t>strong positive relationship</a:t>
            </a:r>
            <a:r>
              <a:rPr lang="en-GB" sz="1620"/>
              <a:t> between steps taken, calories burned, and active minutes. However, users spend a large portion of the day in </a:t>
            </a:r>
            <a:r>
              <a:rPr b="1" lang="en-GB" sz="1620"/>
              <a:t>sedentary behavior</a:t>
            </a:r>
            <a:r>
              <a:rPr lang="en-GB" sz="1620"/>
              <a:t>, highlighting opportunities for increased movement and engagement.</a:t>
            </a:r>
            <a:endParaRPr sz="1620"/>
          </a:p>
          <a:p>
            <a:pPr indent="0" lvl="0" marL="0" rtl="0" algn="l">
              <a:lnSpc>
                <a:spcPct val="115000"/>
              </a:lnSpc>
              <a:spcBef>
                <a:spcPts val="1200"/>
              </a:spcBef>
              <a:spcAft>
                <a:spcPts val="0"/>
              </a:spcAft>
              <a:buSzPts val="770"/>
              <a:buNone/>
            </a:pPr>
            <a:r>
              <a:rPr b="1" lang="en-GB" sz="1620"/>
              <a:t>Key trends:</a:t>
            </a:r>
            <a:endParaRPr b="1" sz="1620"/>
          </a:p>
          <a:p>
            <a:pPr indent="-331470" lvl="0" marL="457200" rtl="0" algn="l">
              <a:lnSpc>
                <a:spcPct val="115000"/>
              </a:lnSpc>
              <a:spcBef>
                <a:spcPts val="1200"/>
              </a:spcBef>
              <a:spcAft>
                <a:spcPts val="0"/>
              </a:spcAft>
              <a:buClr>
                <a:schemeClr val="lt1"/>
              </a:buClr>
              <a:buSzPts val="1620"/>
              <a:buFont typeface="Lato"/>
              <a:buChar char="●"/>
            </a:pPr>
            <a:r>
              <a:rPr lang="en-GB" sz="1620"/>
              <a:t>Moderate daily activity levels</a:t>
            </a:r>
            <a:endParaRPr sz="1620"/>
          </a:p>
          <a:p>
            <a:pPr indent="-331470" lvl="0" marL="457200" rtl="0" algn="l">
              <a:lnSpc>
                <a:spcPct val="115000"/>
              </a:lnSpc>
              <a:spcBef>
                <a:spcPts val="0"/>
              </a:spcBef>
              <a:spcAft>
                <a:spcPts val="0"/>
              </a:spcAft>
              <a:buClr>
                <a:schemeClr val="lt1"/>
              </a:buClr>
              <a:buSzPts val="1620"/>
              <a:buFont typeface="Lato"/>
              <a:buChar char="●"/>
            </a:pPr>
            <a:r>
              <a:rPr lang="en-GB" sz="1620"/>
              <a:t>Higher engagement on weekdays</a:t>
            </a:r>
            <a:endParaRPr sz="1620"/>
          </a:p>
          <a:p>
            <a:pPr indent="-331470" lvl="0" marL="457200" rtl="0" algn="l">
              <a:lnSpc>
                <a:spcPct val="115000"/>
              </a:lnSpc>
              <a:spcBef>
                <a:spcPts val="0"/>
              </a:spcBef>
              <a:spcAft>
                <a:spcPts val="0"/>
              </a:spcAft>
              <a:buClr>
                <a:schemeClr val="lt1"/>
              </a:buClr>
              <a:buSzPts val="1620"/>
              <a:buFont typeface="Lato"/>
              <a:buChar char="●"/>
            </a:pPr>
            <a:r>
              <a:rPr lang="en-GB" sz="1620"/>
              <a:t>Strong correlation between steps, calories, and active minutes</a:t>
            </a:r>
            <a:endParaRPr sz="1620"/>
          </a:p>
          <a:p>
            <a:pPr indent="-331470" lvl="0" marL="457200" rtl="0" algn="l">
              <a:lnSpc>
                <a:spcPct val="115000"/>
              </a:lnSpc>
              <a:spcBef>
                <a:spcPts val="0"/>
              </a:spcBef>
              <a:spcAft>
                <a:spcPts val="0"/>
              </a:spcAft>
              <a:buClr>
                <a:schemeClr val="lt1"/>
              </a:buClr>
              <a:buSzPts val="1620"/>
              <a:buFont typeface="Lato"/>
              <a:buChar char="●"/>
            </a:pPr>
            <a:r>
              <a:rPr lang="en-GB" sz="1620"/>
              <a:t>High sedentary time among users</a:t>
            </a:r>
            <a:endParaRPr sz="1620"/>
          </a:p>
          <a:p>
            <a:pPr indent="0" lvl="0" marL="0" rtl="0" algn="l">
              <a:lnSpc>
                <a:spcPct val="95000"/>
              </a:lnSpc>
              <a:spcBef>
                <a:spcPts val="1200"/>
              </a:spcBef>
              <a:spcAft>
                <a:spcPts val="1200"/>
              </a:spcAft>
              <a:buSzPts val="770"/>
              <a:buNone/>
            </a:pPr>
            <a:r>
              <a:t/>
            </a:r>
            <a:endParaRPr sz="910"/>
          </a:p>
        </p:txBody>
      </p:sp>
      <p:sp>
        <p:nvSpPr>
          <p:cNvPr id="205" name="Google Shape;205;p24"/>
          <p:cNvSpPr txBox="1"/>
          <p:nvPr/>
        </p:nvSpPr>
        <p:spPr>
          <a:xfrm>
            <a:off x="204500" y="629175"/>
            <a:ext cx="448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206" name="Google Shape;206;p24"/>
          <p:cNvSpPr/>
          <p:nvPr/>
        </p:nvSpPr>
        <p:spPr>
          <a:xfrm>
            <a:off x="220100" y="660650"/>
            <a:ext cx="417000" cy="4011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7" name="Google Shape;207;p24"/>
          <p:cNvSpPr txBox="1"/>
          <p:nvPr/>
        </p:nvSpPr>
        <p:spPr>
          <a:xfrm>
            <a:off x="204500" y="676550"/>
            <a:ext cx="448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chemeClr val="lt1"/>
                </a:solidFill>
                <a:latin typeface="Lato"/>
                <a:ea typeface="Lato"/>
                <a:cs typeface="Lato"/>
                <a:sym typeface="Lato"/>
              </a:rPr>
              <a:t>01</a:t>
            </a:r>
            <a:endParaRPr sz="1200">
              <a:solidFill>
                <a:schemeClr val="l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1077300" y="181550"/>
            <a:ext cx="7259100" cy="4950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2000">
                <a:latin typeface="Lato"/>
                <a:ea typeface="Lato"/>
                <a:cs typeface="Lato"/>
                <a:sym typeface="Lato"/>
              </a:rPr>
              <a:t>How can these usage trends be applied to Bellabeat customers?</a:t>
            </a:r>
            <a:br>
              <a:rPr b="1" lang="en-GB" sz="2000">
                <a:latin typeface="Lato"/>
                <a:ea typeface="Lato"/>
                <a:cs typeface="Lato"/>
                <a:sym typeface="Lato"/>
              </a:rPr>
            </a:br>
            <a:endParaRPr b="1" sz="2000">
              <a:latin typeface="Lato"/>
              <a:ea typeface="Lato"/>
              <a:cs typeface="Lato"/>
              <a:sym typeface="Lato"/>
            </a:endParaRPr>
          </a:p>
          <a:p>
            <a:pPr indent="0" lvl="0" marL="0" rtl="0" algn="l">
              <a:spcBef>
                <a:spcPts val="1200"/>
              </a:spcBef>
              <a:spcAft>
                <a:spcPts val="0"/>
              </a:spcAft>
              <a:buNone/>
            </a:pPr>
            <a:r>
              <a:t/>
            </a:r>
            <a:endParaRPr b="1" sz="2000">
              <a:latin typeface="Lato"/>
              <a:ea typeface="Lato"/>
              <a:cs typeface="Lato"/>
              <a:sym typeface="Lato"/>
            </a:endParaRPr>
          </a:p>
        </p:txBody>
      </p:sp>
      <p:sp>
        <p:nvSpPr>
          <p:cNvPr id="213" name="Google Shape;213;p25"/>
          <p:cNvSpPr txBox="1"/>
          <p:nvPr>
            <p:ph idx="1" type="body"/>
          </p:nvPr>
        </p:nvSpPr>
        <p:spPr>
          <a:xfrm>
            <a:off x="1077300" y="1085325"/>
            <a:ext cx="7259100" cy="33933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GB" sz="1600"/>
              <a:t>These usage trends can be effectively applied to </a:t>
            </a:r>
            <a:r>
              <a:rPr b="1" lang="en-GB" sz="1600"/>
              <a:t>Bellabeat’s women-focused wellness audience</a:t>
            </a:r>
            <a:r>
              <a:rPr lang="en-GB" sz="1600"/>
              <a:t>. Bellabeat customers are likely to prefer </a:t>
            </a:r>
            <a:r>
              <a:rPr b="1" lang="en-GB" sz="1600"/>
              <a:t>consistent, achievable activity goals</a:t>
            </a:r>
            <a:r>
              <a:rPr lang="en-GB" sz="1600"/>
              <a:t> rather than intense fitness routines. High sedentary time indicates a need for features that encourage </a:t>
            </a:r>
            <a:r>
              <a:rPr b="1" lang="en-GB" sz="1600"/>
              <a:t>mindful movement, stress reduction, and balance</a:t>
            </a:r>
            <a:r>
              <a:rPr lang="en-GB" sz="1600"/>
              <a:t>, aligning well with Bellabeat’s holistic wellness approach.</a:t>
            </a:r>
            <a:endParaRPr sz="1600"/>
          </a:p>
          <a:p>
            <a:pPr indent="0" lvl="0" marL="0" rtl="0" algn="l">
              <a:spcBef>
                <a:spcPts val="1200"/>
              </a:spcBef>
              <a:spcAft>
                <a:spcPts val="0"/>
              </a:spcAft>
              <a:buNone/>
            </a:pPr>
            <a:r>
              <a:rPr b="1" lang="en-GB" sz="1600"/>
              <a:t>Applic</a:t>
            </a:r>
            <a:r>
              <a:rPr b="1" lang="en-GB" sz="1600"/>
              <a:t>a</a:t>
            </a:r>
            <a:r>
              <a:rPr b="1" lang="en-GB" sz="1600"/>
              <a:t>tion to Bellabeat:</a:t>
            </a:r>
            <a:endParaRPr b="1" sz="1600"/>
          </a:p>
          <a:p>
            <a:pPr indent="-330200" lvl="0" marL="457200" rtl="0" algn="l">
              <a:spcBef>
                <a:spcPts val="1200"/>
              </a:spcBef>
              <a:spcAft>
                <a:spcPts val="0"/>
              </a:spcAft>
              <a:buSzPts val="1600"/>
              <a:buChar char="●"/>
            </a:pPr>
            <a:r>
              <a:rPr lang="en-GB" sz="1600"/>
              <a:t>Focus on gentle, daily activity goals</a:t>
            </a:r>
            <a:endParaRPr sz="1600"/>
          </a:p>
          <a:p>
            <a:pPr indent="-330200" lvl="0" marL="457200" rtl="0" algn="l">
              <a:spcBef>
                <a:spcPts val="0"/>
              </a:spcBef>
              <a:spcAft>
                <a:spcPts val="0"/>
              </a:spcAft>
              <a:buSzPts val="1600"/>
              <a:buChar char="●"/>
            </a:pPr>
            <a:r>
              <a:rPr lang="en-GB" sz="1600"/>
              <a:t>Promote balance between physical activity and mindfulness</a:t>
            </a:r>
            <a:endParaRPr sz="1600"/>
          </a:p>
          <a:p>
            <a:pPr indent="-330200" lvl="0" marL="457200" rtl="0" algn="l">
              <a:spcBef>
                <a:spcPts val="0"/>
              </a:spcBef>
              <a:spcAft>
                <a:spcPts val="0"/>
              </a:spcAft>
              <a:buSzPts val="1600"/>
              <a:buChar char="●"/>
            </a:pPr>
            <a:r>
              <a:rPr lang="en-GB" sz="1600"/>
              <a:t>Use reminders to reduce sedentary behavior</a:t>
            </a:r>
            <a:endParaRPr sz="1600"/>
          </a:p>
          <a:p>
            <a:pPr indent="-330200" lvl="0" marL="457200" rtl="0" algn="l">
              <a:spcBef>
                <a:spcPts val="0"/>
              </a:spcBef>
              <a:spcAft>
                <a:spcPts val="0"/>
              </a:spcAft>
              <a:buSzPts val="1600"/>
              <a:buChar char="●"/>
            </a:pPr>
            <a:r>
              <a:rPr lang="en-GB" sz="1600"/>
              <a:t>Support lifestyle-based wellness rather than only fitness tracking</a:t>
            </a:r>
            <a:endParaRPr sz="1600"/>
          </a:p>
        </p:txBody>
      </p:sp>
      <p:sp>
        <p:nvSpPr>
          <p:cNvPr id="214" name="Google Shape;214;p25"/>
          <p:cNvSpPr txBox="1"/>
          <p:nvPr/>
        </p:nvSpPr>
        <p:spPr>
          <a:xfrm>
            <a:off x="204500" y="629175"/>
            <a:ext cx="448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215" name="Google Shape;215;p25"/>
          <p:cNvSpPr/>
          <p:nvPr/>
        </p:nvSpPr>
        <p:spPr>
          <a:xfrm>
            <a:off x="220100" y="660650"/>
            <a:ext cx="417000" cy="4011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6" name="Google Shape;216;p25"/>
          <p:cNvSpPr txBox="1"/>
          <p:nvPr/>
        </p:nvSpPr>
        <p:spPr>
          <a:xfrm>
            <a:off x="204500" y="676550"/>
            <a:ext cx="448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chemeClr val="lt1"/>
                </a:solidFill>
                <a:latin typeface="Lato"/>
                <a:ea typeface="Lato"/>
                <a:cs typeface="Lato"/>
                <a:sym typeface="Lato"/>
              </a:rPr>
              <a:t>02</a:t>
            </a:r>
            <a:endParaRPr sz="1200">
              <a:solidFill>
                <a:schemeClr val="l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1038000" y="260050"/>
            <a:ext cx="72984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GB" sz="2000">
                <a:latin typeface="Lato"/>
                <a:ea typeface="Lato"/>
                <a:cs typeface="Lato"/>
                <a:sym typeface="Lato"/>
              </a:rPr>
              <a:t>How can these insights help improve the marketing strategy for Bellabeat products?</a:t>
            </a:r>
            <a:endParaRPr b="1" sz="2000">
              <a:latin typeface="Lato"/>
              <a:ea typeface="Lato"/>
              <a:cs typeface="Lato"/>
              <a:sym typeface="Lato"/>
            </a:endParaRPr>
          </a:p>
        </p:txBody>
      </p:sp>
      <p:sp>
        <p:nvSpPr>
          <p:cNvPr id="222" name="Google Shape;222;p26"/>
          <p:cNvSpPr txBox="1"/>
          <p:nvPr>
            <p:ph idx="1" type="body"/>
          </p:nvPr>
        </p:nvSpPr>
        <p:spPr>
          <a:xfrm>
            <a:off x="1038000" y="1174150"/>
            <a:ext cx="7298400" cy="3171000"/>
          </a:xfrm>
          <a:prstGeom prst="rect">
            <a:avLst/>
          </a:prstGeom>
        </p:spPr>
        <p:txBody>
          <a:bodyPr anchorCtr="0" anchor="t" bIns="91425" lIns="91425" spcFirstLastPara="1" rIns="91425" wrap="square" tIns="91425">
            <a:noAutofit/>
          </a:bodyPr>
          <a:lstStyle/>
          <a:p>
            <a:pPr indent="0" lvl="0" marL="0" marR="381000" rtl="0" algn="just">
              <a:spcBef>
                <a:spcPts val="1200"/>
              </a:spcBef>
              <a:spcAft>
                <a:spcPts val="0"/>
              </a:spcAft>
              <a:buNone/>
            </a:pPr>
            <a:r>
              <a:rPr lang="en-GB" sz="1600">
                <a:latin typeface="Arial"/>
                <a:ea typeface="Arial"/>
                <a:cs typeface="Arial"/>
                <a:sym typeface="Arial"/>
              </a:rPr>
              <a:t>These insights help Bellabeat position its products as </a:t>
            </a:r>
            <a:r>
              <a:rPr b="1" lang="en-GB" sz="1600">
                <a:latin typeface="Arial"/>
                <a:ea typeface="Arial"/>
                <a:cs typeface="Arial"/>
                <a:sym typeface="Arial"/>
              </a:rPr>
              <a:t>wellness companions</a:t>
            </a:r>
            <a:r>
              <a:rPr lang="en-GB" sz="1600">
                <a:latin typeface="Arial"/>
                <a:ea typeface="Arial"/>
                <a:cs typeface="Arial"/>
                <a:sym typeface="Arial"/>
              </a:rPr>
              <a:t> rather than just activity trackers. By promoting small, achievable wellness habits, personalized insights, and lifestyle balance, Bellabeat can increase user engagement and retention. Time-based campaigns and feature-focused messaging further strengthen the brand’s focus on women’s holistic health.</a:t>
            </a:r>
            <a:endParaRPr sz="1600">
              <a:latin typeface="Arial"/>
              <a:ea typeface="Arial"/>
              <a:cs typeface="Arial"/>
              <a:sym typeface="Arial"/>
            </a:endParaRPr>
          </a:p>
          <a:p>
            <a:pPr indent="0" lvl="0" marL="0" rtl="0" algn="just">
              <a:spcBef>
                <a:spcPts val="1200"/>
              </a:spcBef>
              <a:spcAft>
                <a:spcPts val="0"/>
              </a:spcAft>
              <a:buNone/>
            </a:pPr>
            <a:r>
              <a:rPr b="1" lang="en-GB" sz="1600">
                <a:latin typeface="Arial"/>
                <a:ea typeface="Arial"/>
                <a:cs typeface="Arial"/>
                <a:sym typeface="Arial"/>
              </a:rPr>
              <a:t>Key benefits:</a:t>
            </a:r>
            <a:endParaRPr b="1" sz="1600">
              <a:latin typeface="Arial"/>
              <a:ea typeface="Arial"/>
              <a:cs typeface="Arial"/>
              <a:sym typeface="Arial"/>
            </a:endParaRPr>
          </a:p>
          <a:p>
            <a:pPr indent="-330200" lvl="0" marL="457200" rtl="0" algn="just">
              <a:lnSpc>
                <a:spcPct val="150000"/>
              </a:lnSpc>
              <a:spcBef>
                <a:spcPts val="1200"/>
              </a:spcBef>
              <a:spcAft>
                <a:spcPts val="0"/>
              </a:spcAft>
              <a:buClr>
                <a:schemeClr val="lt1"/>
              </a:buClr>
              <a:buSzPts val="1600"/>
              <a:buFont typeface="Arial"/>
              <a:buChar char="●"/>
            </a:pPr>
            <a:r>
              <a:rPr lang="en-GB" sz="1600">
                <a:latin typeface="Arial"/>
                <a:ea typeface="Arial"/>
                <a:cs typeface="Arial"/>
                <a:sym typeface="Arial"/>
              </a:rPr>
              <a:t>Personalized, behavior-based marketing</a:t>
            </a:r>
            <a:endParaRPr sz="1600">
              <a:latin typeface="Arial"/>
              <a:ea typeface="Arial"/>
              <a:cs typeface="Arial"/>
              <a:sym typeface="Arial"/>
            </a:endParaRPr>
          </a:p>
          <a:p>
            <a:pPr indent="-330200" lvl="0" marL="457200" rtl="0" algn="just">
              <a:lnSpc>
                <a:spcPct val="150000"/>
              </a:lnSpc>
              <a:spcBef>
                <a:spcPts val="0"/>
              </a:spcBef>
              <a:spcAft>
                <a:spcPts val="0"/>
              </a:spcAft>
              <a:buClr>
                <a:schemeClr val="lt1"/>
              </a:buClr>
              <a:buSzPts val="1600"/>
              <a:buFont typeface="Arial"/>
              <a:buChar char="●"/>
            </a:pPr>
            <a:r>
              <a:rPr lang="en-GB" sz="1600">
                <a:latin typeface="Arial"/>
                <a:ea typeface="Arial"/>
                <a:cs typeface="Arial"/>
                <a:sym typeface="Arial"/>
              </a:rPr>
              <a:t>Stronger focus on holistic wellness</a:t>
            </a:r>
            <a:endParaRPr sz="1600">
              <a:latin typeface="Arial"/>
              <a:ea typeface="Arial"/>
              <a:cs typeface="Arial"/>
              <a:sym typeface="Arial"/>
            </a:endParaRPr>
          </a:p>
          <a:p>
            <a:pPr indent="-330200" lvl="0" marL="457200" rtl="0" algn="just">
              <a:lnSpc>
                <a:spcPct val="150000"/>
              </a:lnSpc>
              <a:spcBef>
                <a:spcPts val="0"/>
              </a:spcBef>
              <a:spcAft>
                <a:spcPts val="0"/>
              </a:spcAft>
              <a:buClr>
                <a:schemeClr val="lt1"/>
              </a:buClr>
              <a:buSzPts val="1600"/>
              <a:buFont typeface="Arial"/>
              <a:buChar char="●"/>
            </a:pPr>
            <a:r>
              <a:rPr lang="en-GB" sz="1600">
                <a:latin typeface="Arial"/>
                <a:ea typeface="Arial"/>
                <a:cs typeface="Arial"/>
                <a:sym typeface="Arial"/>
              </a:rPr>
              <a:t>Higher user engagement and retention</a:t>
            </a:r>
            <a:endParaRPr sz="1600">
              <a:latin typeface="Arial"/>
              <a:ea typeface="Arial"/>
              <a:cs typeface="Arial"/>
              <a:sym typeface="Arial"/>
            </a:endParaRPr>
          </a:p>
          <a:p>
            <a:pPr indent="0" lvl="0" marL="457200" rtl="0" algn="l">
              <a:lnSpc>
                <a:spcPct val="115000"/>
              </a:lnSpc>
              <a:spcBef>
                <a:spcPts val="1200"/>
              </a:spcBef>
              <a:spcAft>
                <a:spcPts val="0"/>
              </a:spcAft>
              <a:buNone/>
            </a:pPr>
            <a:r>
              <a:t/>
            </a:r>
            <a:endParaRPr sz="1600"/>
          </a:p>
          <a:p>
            <a:pPr indent="0" lvl="0" marL="0" rtl="0" algn="l">
              <a:lnSpc>
                <a:spcPct val="95000"/>
              </a:lnSpc>
              <a:spcBef>
                <a:spcPts val="1200"/>
              </a:spcBef>
              <a:spcAft>
                <a:spcPts val="1200"/>
              </a:spcAft>
              <a:buSzPts val="275"/>
              <a:buNone/>
            </a:pPr>
            <a:r>
              <a:t/>
            </a:r>
            <a:endParaRPr sz="325"/>
          </a:p>
        </p:txBody>
      </p:sp>
      <p:sp>
        <p:nvSpPr>
          <p:cNvPr id="223" name="Google Shape;223;p26"/>
          <p:cNvSpPr txBox="1"/>
          <p:nvPr/>
        </p:nvSpPr>
        <p:spPr>
          <a:xfrm>
            <a:off x="204500" y="629175"/>
            <a:ext cx="448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224" name="Google Shape;224;p26"/>
          <p:cNvSpPr/>
          <p:nvPr/>
        </p:nvSpPr>
        <p:spPr>
          <a:xfrm>
            <a:off x="220100" y="660650"/>
            <a:ext cx="417000" cy="4011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5" name="Google Shape;225;p26"/>
          <p:cNvSpPr txBox="1"/>
          <p:nvPr/>
        </p:nvSpPr>
        <p:spPr>
          <a:xfrm>
            <a:off x="204500" y="676550"/>
            <a:ext cx="448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chemeClr val="lt1"/>
                </a:solidFill>
                <a:latin typeface="Lato"/>
                <a:ea typeface="Lato"/>
                <a:cs typeface="Lato"/>
                <a:sym typeface="Lato"/>
              </a:rPr>
              <a:t>03</a:t>
            </a:r>
            <a:endParaRPr sz="1200">
              <a:solidFill>
                <a:schemeClr val="l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ph type="title"/>
          </p:nvPr>
        </p:nvSpPr>
        <p:spPr>
          <a:xfrm>
            <a:off x="1179600" y="18140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 </a:t>
            </a:r>
            <a:r>
              <a:rPr b="1" lang="en-GB" sz="3000">
                <a:latin typeface="Lato"/>
                <a:ea typeface="Lato"/>
                <a:cs typeface="Lato"/>
                <a:sym typeface="Lato"/>
              </a:rPr>
              <a:t>Conclusion</a:t>
            </a:r>
            <a:endParaRPr b="1" sz="3000">
              <a:latin typeface="Lato"/>
              <a:ea typeface="Lato"/>
              <a:cs typeface="Lato"/>
              <a:sym typeface="Lato"/>
            </a:endParaRPr>
          </a:p>
        </p:txBody>
      </p:sp>
      <p:sp>
        <p:nvSpPr>
          <p:cNvPr id="231" name="Google Shape;231;p27"/>
          <p:cNvSpPr txBox="1"/>
          <p:nvPr>
            <p:ph idx="1" type="body"/>
          </p:nvPr>
        </p:nvSpPr>
        <p:spPr>
          <a:xfrm>
            <a:off x="1061700" y="1095500"/>
            <a:ext cx="7274700" cy="29112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1200"/>
              </a:spcAft>
              <a:buNone/>
            </a:pPr>
            <a:r>
              <a:rPr lang="en-GB" sz="1600"/>
              <a:t>This analysis used Fitbit fitness tracker data and Excel to uncover key insights into user activity and engagement patterns. The results show that most users are moderately active, with higher activity during weekdays and a strong relationship between </a:t>
            </a:r>
            <a:r>
              <a:rPr b="1" lang="en-GB" sz="1600"/>
              <a:t>steps taken</a:t>
            </a:r>
            <a:r>
              <a:rPr lang="en-GB" sz="1600"/>
              <a:t>, </a:t>
            </a:r>
            <a:r>
              <a:rPr b="1" lang="en-GB" sz="1600"/>
              <a:t>calories burned</a:t>
            </a:r>
            <a:r>
              <a:rPr lang="en-GB" sz="1600"/>
              <a:t>, and </a:t>
            </a:r>
            <a:r>
              <a:rPr b="1" lang="en-GB" sz="1600"/>
              <a:t>active minutes</a:t>
            </a:r>
            <a:r>
              <a:rPr lang="en-GB" sz="1600"/>
              <a:t>. However, high sedentary time highlights opportunities to encourage healthier movement habits. These insights can help fitness companies improve personalized recommendations, design targeted wellness programs, and increase overall user engagement. The project demonstrates how Excel can be effectively used for </a:t>
            </a:r>
            <a:r>
              <a:rPr b="1" lang="en-GB" sz="1600"/>
              <a:t>data-driven analysis</a:t>
            </a:r>
            <a:r>
              <a:rPr lang="en-GB" sz="1600"/>
              <a:t> and </a:t>
            </a:r>
            <a:r>
              <a:rPr b="1" lang="en-GB" sz="1600"/>
              <a:t>business decision-making</a:t>
            </a:r>
            <a:r>
              <a:rPr lang="en-GB" sz="1600"/>
              <a:t>.</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8"/>
          <p:cNvSpPr txBox="1"/>
          <p:nvPr>
            <p:ph type="title"/>
          </p:nvPr>
        </p:nvSpPr>
        <p:spPr>
          <a:xfrm>
            <a:off x="1052550" y="2068925"/>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4000">
                <a:latin typeface="Lato"/>
                <a:ea typeface="Lato"/>
                <a:cs typeface="Lato"/>
                <a:sym typeface="Lato"/>
              </a:rPr>
              <a:t>THANK YOU</a:t>
            </a:r>
            <a:endParaRPr b="1" sz="4000">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